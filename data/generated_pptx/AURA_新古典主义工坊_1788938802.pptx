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097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◆ DIOR 迪奥，以精湛工艺与永恒美学著称的法国奢侈品牌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01168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600" b="1">
                <a:solidFill>
                  <a:srgbClr val="F8FAFC"/>
                </a:solidFill>
              </a:defRPr>
            </a:pPr>
            <a:r>
              <a:t>2026早秋 DIOR 迪奥 · 新古典主义工坊</a:t>
            </a:r>
          </a:p>
          <a:p>
            <a:pPr>
              <a:defRPr sz="2200">
                <a:solidFill>
                  <a:srgbClr val="94A3B8"/>
                </a:solidFill>
              </a:defRPr>
            </a:pPr>
            <a:r>
              <a:t>高级定制女装企划案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4389120"/>
            <a:ext cx="411480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475488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GENERATED BY: 魔搭社区 ChatPPT-MCP 演示文稿生成智能体  |  AURA FASHION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73152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01. CONCEPT &amp; STORY / 灵感叙事与客群</a:t>
            </a:r>
          </a:p>
          <a:p>
            <a:pPr>
              <a:defRPr sz="2400" b="1">
                <a:solidFill>
                  <a:srgbClr val="F8FAFC"/>
                </a:solidFill>
              </a:defRPr>
            </a:pPr>
            <a:r>
              <a:t>新古典主义工坊：传统与现代的对话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97280" y="1828800"/>
            <a:ext cx="6400800" cy="4206240"/>
          </a:xfrm>
          <a:prstGeom prst="roundRect">
            <a:avLst/>
          </a:prstGeom>
          <a:solidFill>
            <a:srgbClr val="16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65760"/>
          <a:lstStyle/>
          <a:p>
            <a:pPr algn="ctr">
              <a:spcAft>
                <a:spcPts val="1400"/>
              </a:spcAft>
              <a:defRPr sz="1400">
                <a:solidFill>
                  <a:srgbClr val="E2E8F0"/>
                </a:solidFill>
              </a:defRPr>
            </a:pPr>
            <a:r>
              <a:t>2026早秋系列以‘新古典主义工坊’为灵感核心，探索古典艺术与当代时尚之间的深度对话。通过解构历史建筑、雕塑与织物纹样，重新诠释优雅与力量并存的女性形象。</a:t>
            </a:r>
          </a:p>
          <a:p>
            <a:pPr>
              <a:spcAft>
                <a:spcPts val="1400"/>
              </a:spcAft>
              <a:defRPr sz="1400">
                <a:solidFill>
                  <a:srgbClr val="E2E8F0"/>
                </a:solidFill>
              </a:defRPr>
            </a:pPr>
            <a:r>
              <a:t>这一季不仅致敬迪奥工坊的悠久传统，更以现代视角重塑经典元素，赋予其新的生命与意义。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0" y="1828800"/>
            <a:ext cx="3291840" cy="4206240"/>
          </a:xfrm>
          <a:prstGeom prst="roundRect">
            <a:avLst/>
          </a:prstGeom>
          <a:solidFill>
            <a:srgbClr val="16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✦ 目标客群画像 (Audience)</a:t>
            </a:r>
          </a:p>
          <a:p>
            <a:pPr>
              <a:spcAft>
                <a:spcPts val="1800"/>
              </a:spcAft>
              <a:defRPr sz="1300">
                <a:solidFill>
                  <a:srgbClr val="E2E8F0"/>
                </a:solidFill>
              </a:defRPr>
            </a:pPr>
            <a:r>
              <a:t>都市新贵、艺术从业者与时尚先锋女性</a:t>
            </a:r>
          </a:p>
          <a:p>
            <a:pPr>
              <a:defRPr sz="1400" b="1">
                <a:solidFill>
                  <a:srgbClr val="D4AF37"/>
                </a:solidFill>
              </a:defRPr>
            </a:pPr>
            <a:r>
              <a:t>✦ 适用生活场景 (Occasions)</a:t>
            </a:r>
          </a:p>
          <a:p>
            <a:pPr>
              <a:spcAft>
                <a:spcPts val="1800"/>
              </a:spcAft>
              <a:defRPr sz="1300">
                <a:solidFill>
                  <a:srgbClr val="E2E8F0"/>
                </a:solidFill>
              </a:defRPr>
            </a:pPr>
            <a:r>
              <a:t>都会日常、沙龙社交、晚宴酒会与度假漫游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✦ 美学关键词: 新古典主义 / 工坊精神 / 优雅与力量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73152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02. MOODBOARD / 灵感情绪板与视觉意向</a:t>
            </a:r>
          </a:p>
          <a:p>
            <a:pPr>
              <a:defRPr sz="2400" b="1">
                <a:solidFill>
                  <a:srgbClr val="F8FAFC"/>
                </a:solidFill>
              </a:defRPr>
            </a:pPr>
            <a:r>
              <a:t>新古典主义工坊：视觉与情绪的交汇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视觉总览：融合文艺复兴时期的建筑细节、巴洛克风格的繁复装饰以及现代极简线条，营造出一种既庄重又充满生命力的视觉氛围。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2651760"/>
            <a:ext cx="3108960" cy="3291840"/>
          </a:xfrm>
          <a:prstGeom prst="roundRect">
            <a:avLst/>
          </a:prstGeom>
          <a:solidFill>
            <a:srgbClr val="16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0" lIns="274320"/>
          <a:lstStyle/>
          <a:p>
            <a:pPr algn="ctr">
              <a:defRPr sz="1200" b="1">
                <a:solidFill>
                  <a:srgbClr val="38BDF8"/>
                </a:solidFill>
              </a:defRPr>
            </a:pPr>
            <a:r>
              <a:t>VISUAL REF 01</a:t>
            </a:r>
          </a:p>
          <a:p>
            <a:pPr>
              <a:spcBef>
                <a:spcPts val="1000"/>
              </a:spcBef>
              <a:defRPr sz="1600" b="1">
                <a:solidFill>
                  <a:srgbClr val="F8FAFC"/>
                </a:solidFill>
              </a:defRPr>
            </a:pPr>
            <a:r>
              <a:t>大理石纹理</a:t>
            </a:r>
          </a:p>
          <a:p>
            <a:pPr>
              <a:spcBef>
                <a:spcPts val="1400"/>
              </a:spcBef>
              <a:defRPr sz="1200">
                <a:solidFill>
                  <a:srgbClr val="E2E8F0"/>
                </a:solidFill>
              </a:defRPr>
            </a:pPr>
            <a:r>
              <a:t>高奢时装秀场与静物摄影参考意向，强调剪裁与材质共生。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0" y="2651760"/>
            <a:ext cx="3108960" cy="3291840"/>
          </a:xfrm>
          <a:prstGeom prst="roundRect">
            <a:avLst/>
          </a:prstGeom>
          <a:solidFill>
            <a:srgbClr val="16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0" lIns="274320"/>
          <a:lstStyle/>
          <a:p>
            <a:pPr algn="ctr">
              <a:defRPr sz="1200" b="1">
                <a:solidFill>
                  <a:srgbClr val="38BDF8"/>
                </a:solidFill>
              </a:defRPr>
            </a:pPr>
            <a:r>
              <a:t>VISUAL REF 02</a:t>
            </a:r>
          </a:p>
          <a:p>
            <a:pPr>
              <a:spcBef>
                <a:spcPts val="1000"/>
              </a:spcBef>
              <a:defRPr sz="1600" b="1">
                <a:solidFill>
                  <a:srgbClr val="F8FAFC"/>
                </a:solidFill>
              </a:defRPr>
            </a:pPr>
            <a:r>
              <a:t>古典浮雕图案</a:t>
            </a:r>
          </a:p>
          <a:p>
            <a:pPr>
              <a:spcBef>
                <a:spcPts val="1400"/>
              </a:spcBef>
              <a:defRPr sz="1200">
                <a:solidFill>
                  <a:srgbClr val="E2E8F0"/>
                </a:solidFill>
              </a:defRPr>
            </a:pPr>
            <a:r>
              <a:t>高奢时装秀场与静物摄影参考意向，强调剪裁与材质共生。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19" y="2651760"/>
            <a:ext cx="3108960" cy="3291840"/>
          </a:xfrm>
          <a:prstGeom prst="roundRect">
            <a:avLst/>
          </a:prstGeom>
          <a:solidFill>
            <a:srgbClr val="16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0" lIns="274320"/>
          <a:lstStyle/>
          <a:p>
            <a:pPr algn="ctr">
              <a:defRPr sz="1200" b="1">
                <a:solidFill>
                  <a:srgbClr val="38BDF8"/>
                </a:solidFill>
              </a:defRPr>
            </a:pPr>
            <a:r>
              <a:t>VISUAL REF 03</a:t>
            </a:r>
          </a:p>
          <a:p>
            <a:pPr>
              <a:spcBef>
                <a:spcPts val="1000"/>
              </a:spcBef>
              <a:defRPr sz="1600" b="1">
                <a:solidFill>
                  <a:srgbClr val="F8FAFC"/>
                </a:solidFill>
              </a:defRPr>
            </a:pPr>
            <a:r>
              <a:t>金属质感装饰</a:t>
            </a:r>
          </a:p>
          <a:p>
            <a:pPr>
              <a:spcBef>
                <a:spcPts val="1400"/>
              </a:spcBef>
              <a:defRPr sz="1200">
                <a:solidFill>
                  <a:srgbClr val="E2E8F0"/>
                </a:solidFill>
              </a:defRPr>
            </a:pPr>
            <a:r>
              <a:t>高奢时装秀场与静物摄影参考意向，强调剪裁与材质共生。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73152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03. PANTONE TCX COLORWAY / 潘通色彩谱系</a:t>
            </a:r>
          </a:p>
          <a:p>
            <a:pPr>
              <a:defRPr sz="2400" b="1">
                <a:solidFill>
                  <a:srgbClr val="F8FAFC"/>
                </a:solidFill>
              </a:defRPr>
            </a:pPr>
            <a:r>
              <a:t>新古典主义工坊：色彩语言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7373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94A3B8"/>
                </a:solidFill>
              </a:defRPr>
            </a:pPr>
            <a:r>
              <a:t>本季色彩以中性色调为主，搭配深沉而富有质感的暖色，体现古典与现代的平衡。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2468880"/>
            <a:ext cx="1828800" cy="2194560"/>
          </a:xfrm>
          <a:prstGeom prst="roundRect">
            <a:avLst/>
          </a:prstGeom>
          <a:solidFill>
            <a:srgbClr val="F8F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97280" y="4709160"/>
            <a:ext cx="1828800" cy="1463040"/>
          </a:xfrm>
          <a:prstGeom prst="roundRect">
            <a:avLst/>
          </a:prstGeom>
          <a:solidFill>
            <a:srgbClr val="16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lIns="137160"/>
          <a:lstStyle/>
          <a:p>
            <a:pPr algn="ctr">
              <a:defRPr sz="1100" b="1">
                <a:solidFill>
                  <a:srgbClr val="F8FAFC"/>
                </a:solidFill>
              </a:defRPr>
            </a:pPr>
            <a:r>
              <a:t>15-0907 TCX</a:t>
            </a:r>
          </a:p>
          <a:p>
            <a:pPr>
              <a:defRPr sz="1200">
                <a:solidFill>
                  <a:srgbClr val="38BDF8"/>
                </a:solidFill>
              </a:defRPr>
            </a:pPr>
            <a:r>
              <a:t>象牙白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主色 | #F8F4E8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0" y="2468880"/>
            <a:ext cx="1828800" cy="2194560"/>
          </a:xfrm>
          <a:prstGeom prst="round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200400" y="4709160"/>
            <a:ext cx="1828800" cy="1463040"/>
          </a:xfrm>
          <a:prstGeom prst="roundRect">
            <a:avLst/>
          </a:prstGeom>
          <a:solidFill>
            <a:srgbClr val="16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lIns="137160"/>
          <a:lstStyle/>
          <a:p>
            <a:pPr algn="ctr">
              <a:defRPr sz="1100" b="1">
                <a:solidFill>
                  <a:srgbClr val="F8FAFC"/>
                </a:solidFill>
              </a:defRPr>
            </a:pPr>
            <a:r>
              <a:t>16-1335 TCX</a:t>
            </a:r>
          </a:p>
          <a:p>
            <a:pPr>
              <a:defRPr sz="1200">
                <a:solidFill>
                  <a:srgbClr val="38BDF8"/>
                </a:solidFill>
              </a:defRPr>
            </a:pPr>
            <a:r>
              <a:t>古铜金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辅色 | #B8860B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3520" y="2468880"/>
            <a:ext cx="1828800" cy="2194560"/>
          </a:xfrm>
          <a:prstGeom prst="roundRect">
            <a:avLst/>
          </a:prstGeom>
          <a:solidFill>
            <a:srgbClr val="2A3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303520" y="4709160"/>
            <a:ext cx="1828800" cy="1463040"/>
          </a:xfrm>
          <a:prstGeom prst="roundRect">
            <a:avLst/>
          </a:prstGeom>
          <a:solidFill>
            <a:srgbClr val="16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lIns="137160"/>
          <a:lstStyle/>
          <a:p>
            <a:pPr algn="ctr">
              <a:defRPr sz="1100" b="1">
                <a:solidFill>
                  <a:srgbClr val="F8FAFC"/>
                </a:solidFill>
              </a:defRPr>
            </a:pPr>
            <a:r>
              <a:t>19-4052 TCX</a:t>
            </a:r>
          </a:p>
          <a:p>
            <a:pPr>
              <a:defRPr sz="1200">
                <a:solidFill>
                  <a:srgbClr val="38BDF8"/>
                </a:solidFill>
              </a:defRPr>
            </a:pPr>
            <a:r>
              <a:t>深灰蓝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主色 | #2A3B5C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06640" y="2468880"/>
            <a:ext cx="1828800" cy="2194560"/>
          </a:xfrm>
          <a:prstGeom prst="roundRect">
            <a:avLst/>
          </a:prstGeom>
          <a:solidFill>
            <a:srgbClr val="D8B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406640" y="4709160"/>
            <a:ext cx="1828800" cy="1463040"/>
          </a:xfrm>
          <a:prstGeom prst="roundRect">
            <a:avLst/>
          </a:prstGeom>
          <a:solidFill>
            <a:srgbClr val="16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lIns="137160"/>
          <a:lstStyle/>
          <a:p>
            <a:pPr algn="ctr">
              <a:defRPr sz="1100" b="1">
                <a:solidFill>
                  <a:srgbClr val="F8FAFC"/>
                </a:solidFill>
              </a:defRPr>
            </a:pPr>
            <a:r>
              <a:t>16-1542 TCX</a:t>
            </a:r>
          </a:p>
          <a:p>
            <a:pPr>
              <a:defRPr sz="1200">
                <a:solidFill>
                  <a:srgbClr val="38BDF8"/>
                </a:solidFill>
              </a:defRPr>
            </a:pPr>
            <a:r>
              <a:t>玫瑰粉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点缀色 | #D8BFD8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73152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04. FABRIC &amp; SILHOUETTE / 面料材质与剪裁廓形</a:t>
            </a:r>
          </a:p>
          <a:p>
            <a:pPr>
              <a:defRPr sz="2400" b="1">
                <a:solidFill>
                  <a:srgbClr val="F8FAFC"/>
                </a:solidFill>
              </a:defRPr>
            </a:pPr>
            <a:r>
              <a:t>新古典主义工坊：面料与剪裁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7373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94A3B8"/>
                </a:solidFill>
              </a:defRPr>
            </a:pPr>
            <a:r>
              <a:t>廓形要点：本季采用高密度真丝、手工刺绣缎面与轻盈薄纱，结合不对称剪裁与立体褶皱设计，展现古典与现代的交融。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2468880"/>
            <a:ext cx="9966960" cy="1051560"/>
          </a:xfrm>
          <a:prstGeom prst="roundRect">
            <a:avLst/>
          </a:prstGeom>
          <a:solidFill>
            <a:srgbClr val="16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lIns="274320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01  真丝缎面</a:t>
            </a:r>
          </a:p>
          <a:p>
            <a:pPr>
              <a:defRPr sz="1200">
                <a:solidFill>
                  <a:srgbClr val="E2E8F0"/>
                </a:solidFill>
              </a:defRPr>
            </a:pPr>
            <a:r>
              <a:t>【触感与质地】光滑细腻，光泽感强   |   【应用款式】用于礼服与长裙的主体部分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3703320"/>
            <a:ext cx="9966960" cy="1051560"/>
          </a:xfrm>
          <a:prstGeom prst="roundRect">
            <a:avLst/>
          </a:prstGeom>
          <a:solidFill>
            <a:srgbClr val="16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lIns="274320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02  手工刺绣蕾丝</a:t>
            </a:r>
          </a:p>
          <a:p>
            <a:pPr>
              <a:defRPr sz="1200">
                <a:solidFill>
                  <a:srgbClr val="E2E8F0"/>
                </a:solidFill>
              </a:defRPr>
            </a:pPr>
            <a:r>
              <a:t>【触感与质地】精致繁复，具有层次感   |   【应用款式】用于领口、袖口与裙摆装饰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4937760"/>
            <a:ext cx="9966960" cy="1051560"/>
          </a:xfrm>
          <a:prstGeom prst="roundRect">
            <a:avLst/>
          </a:prstGeom>
          <a:solidFill>
            <a:srgbClr val="16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lIns="274320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03  羊毛混纺</a:t>
            </a:r>
          </a:p>
          <a:p>
            <a:pPr>
              <a:defRPr sz="1200">
                <a:solidFill>
                  <a:srgbClr val="E2E8F0"/>
                </a:solidFill>
              </a:defRPr>
            </a:pPr>
            <a:r>
              <a:t>【触感与质地】柔软且富有垂坠感   |   【应用款式】用于外套与大衣的设计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73152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05. COLLECTION LINEUP / 系列商业规划与波段节奏</a:t>
            </a:r>
          </a:p>
          <a:p>
            <a:pPr>
              <a:defRPr sz="2400" b="1">
                <a:solidFill>
                  <a:srgbClr val="F8FAFC"/>
                </a:solidFill>
              </a:defRPr>
            </a:pPr>
            <a:r>
              <a:t>新古典主义工坊：系列商业规划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97280" y="1920240"/>
            <a:ext cx="3108960" cy="4114800"/>
          </a:xfrm>
          <a:prstGeom prst="roundRect">
            <a:avLst/>
          </a:prstGeom>
          <a:solidFill>
            <a:srgbClr val="16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274320" rIns="274320"/>
          <a:lstStyle/>
          <a:p>
            <a:pPr algn="ctr">
              <a:defRPr sz="1500" b="1">
                <a:solidFill>
                  <a:srgbClr val="D4AF37"/>
                </a:solidFill>
              </a:defRPr>
            </a:pPr>
            <a:r>
              <a:t>波段一 (早春先导)</a:t>
            </a:r>
          </a:p>
          <a:p>
            <a:pPr>
              <a:spcBef>
                <a:spcPts val="1200"/>
              </a:spcBef>
              <a:defRPr sz="1300" b="1">
                <a:solidFill>
                  <a:srgbClr val="38BDF8"/>
                </a:solidFill>
              </a:defRPr>
            </a:pPr>
            <a:r>
              <a:t>✦ 核心主推款式:</a:t>
            </a:r>
          </a:p>
          <a:p>
            <a:pPr>
              <a:spcBef>
                <a:spcPts val="400"/>
              </a:spcBef>
              <a:defRPr sz="1300">
                <a:solidFill>
                  <a:srgbClr val="E2E8F0"/>
                </a:solidFill>
              </a:defRPr>
            </a:pPr>
            <a:r>
              <a:t>轻盈连衣裙、短款西装套装</a:t>
            </a:r>
          </a:p>
          <a:p>
            <a:pPr>
              <a:spcBef>
                <a:spcPts val="1600"/>
              </a:spcBef>
              <a:defRPr sz="1300" b="1">
                <a:solidFill>
                  <a:srgbClr val="38BDF8"/>
                </a:solidFill>
              </a:defRPr>
            </a:pPr>
            <a:r>
              <a:t>✦ 企划策略聚焦:</a:t>
            </a:r>
          </a:p>
          <a:p>
            <a:pPr>
              <a:spcBef>
                <a:spcPts val="400"/>
              </a:spcBef>
              <a:defRPr sz="1250">
                <a:solidFill>
                  <a:srgbClr val="94A3B8"/>
                </a:solidFill>
              </a:defRPr>
            </a:pPr>
            <a:r>
              <a:t>建立品牌调性与市场认知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0" y="1920240"/>
            <a:ext cx="3108960" cy="4114800"/>
          </a:xfrm>
          <a:prstGeom prst="roundRect">
            <a:avLst/>
          </a:prstGeom>
          <a:solidFill>
            <a:srgbClr val="16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274320" rIns="274320"/>
          <a:lstStyle/>
          <a:p>
            <a:pPr algn="ctr">
              <a:defRPr sz="1500" b="1">
                <a:solidFill>
                  <a:srgbClr val="D4AF37"/>
                </a:solidFill>
              </a:defRPr>
            </a:pPr>
            <a:r>
              <a:t>波段二 (秀场主推)</a:t>
            </a:r>
          </a:p>
          <a:p>
            <a:pPr>
              <a:spcBef>
                <a:spcPts val="1200"/>
              </a:spcBef>
              <a:defRPr sz="1300" b="1">
                <a:solidFill>
                  <a:srgbClr val="38BDF8"/>
                </a:solidFill>
              </a:defRPr>
            </a:pPr>
            <a:r>
              <a:t>✦ 核心主推款式:</a:t>
            </a:r>
          </a:p>
          <a:p>
            <a:pPr>
              <a:spcBef>
                <a:spcPts val="400"/>
              </a:spcBef>
              <a:defRPr sz="1300">
                <a:solidFill>
                  <a:srgbClr val="E2E8F0"/>
                </a:solidFill>
              </a:defRPr>
            </a:pPr>
            <a:r>
              <a:t>长款礼服、定制刺绣外套</a:t>
            </a:r>
          </a:p>
          <a:p>
            <a:pPr>
              <a:spcBef>
                <a:spcPts val="1600"/>
              </a:spcBef>
              <a:defRPr sz="1300" b="1">
                <a:solidFill>
                  <a:srgbClr val="38BDF8"/>
                </a:solidFill>
              </a:defRPr>
            </a:pPr>
            <a:r>
              <a:t>✦ 企划策略聚焦:</a:t>
            </a:r>
          </a:p>
          <a:p>
            <a:pPr>
              <a:spcBef>
                <a:spcPts val="400"/>
              </a:spcBef>
              <a:defRPr sz="1250">
                <a:solidFill>
                  <a:srgbClr val="94A3B8"/>
                </a:solidFill>
              </a:defRPr>
            </a:pPr>
            <a:r>
              <a:t>强化品牌形象与高端定位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19" y="1920240"/>
            <a:ext cx="3108960" cy="4114800"/>
          </a:xfrm>
          <a:prstGeom prst="roundRect">
            <a:avLst/>
          </a:prstGeom>
          <a:solidFill>
            <a:srgbClr val="161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274320" rIns="274320"/>
          <a:lstStyle/>
          <a:p>
            <a:pPr algn="ctr">
              <a:defRPr sz="1500" b="1">
                <a:solidFill>
                  <a:srgbClr val="D4AF37"/>
                </a:solidFill>
              </a:defRPr>
            </a:pPr>
            <a:r>
              <a:t>波段三 (盛夏胶囊)</a:t>
            </a:r>
          </a:p>
          <a:p>
            <a:pPr>
              <a:spcBef>
                <a:spcPts val="1200"/>
              </a:spcBef>
              <a:defRPr sz="1300" b="1">
                <a:solidFill>
                  <a:srgbClr val="38BDF8"/>
                </a:solidFill>
              </a:defRPr>
            </a:pPr>
            <a:r>
              <a:t>✦ 核心主推款式:</a:t>
            </a:r>
          </a:p>
          <a:p>
            <a:pPr>
              <a:spcBef>
                <a:spcPts val="400"/>
              </a:spcBef>
              <a:defRPr sz="1300">
                <a:solidFill>
                  <a:srgbClr val="E2E8F0"/>
                </a:solidFill>
              </a:defRPr>
            </a:pPr>
            <a:r>
              <a:t>薄纱披肩、轻便连身裙</a:t>
            </a:r>
          </a:p>
          <a:p>
            <a:pPr>
              <a:spcBef>
                <a:spcPts val="1600"/>
              </a:spcBef>
              <a:defRPr sz="1300" b="1">
                <a:solidFill>
                  <a:srgbClr val="38BDF8"/>
                </a:solidFill>
              </a:defRPr>
            </a:pPr>
            <a:r>
              <a:t>✦ 企划策略聚焦:</a:t>
            </a:r>
          </a:p>
          <a:p>
            <a:pPr>
              <a:spcBef>
                <a:spcPts val="400"/>
              </a:spcBef>
              <a:defRPr sz="1250">
                <a:solidFill>
                  <a:srgbClr val="94A3B8"/>
                </a:solidFill>
              </a:defRPr>
            </a:pPr>
            <a:r>
              <a:t>拓展季节适用性与消费场景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377440"/>
            <a:ext cx="9418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600" b="1">
                <a:solidFill>
                  <a:srgbClr val="F8FAFC"/>
                </a:solidFill>
              </a:defRPr>
            </a:pPr>
            <a:r>
              <a:t>THANK YOU</a:t>
            </a:r>
          </a:p>
          <a:p>
            <a:pPr algn="ctr">
              <a:spcBef>
                <a:spcPts val="1200"/>
              </a:spcBef>
              <a:defRPr sz="1800">
                <a:solidFill>
                  <a:srgbClr val="38BDF8"/>
                </a:solidFill>
              </a:defRPr>
            </a:pPr>
            <a:r>
              <a:t>感谢您对2026早秋 DIOR 迪奥 · 新古典主义工坊的关注与支持</a:t>
            </a:r>
          </a:p>
          <a:p>
            <a:pPr algn="ctr">
              <a:spcBef>
                <a:spcPts val="2000"/>
              </a:spcBef>
              <a:defRPr sz="1100">
                <a:solidFill>
                  <a:srgbClr val="94A3B8"/>
                </a:solidFill>
              </a:defRPr>
            </a:pPr>
            <a:r>
              <a:t>AURA Fashion AI × ModelScope ChatPPT-MCP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