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097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◆ LOUIS VUITTON 以精湛工艺与永恒美学，重新定义高级定制女装的未来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F8FAFC"/>
                </a:solidFill>
              </a:defRPr>
            </a:pPr>
            <a:r>
              <a:t>2026年春夏 LOUIS VUITTON</a:t>
            </a:r>
          </a:p>
          <a:p>
            <a:pPr>
              <a:defRPr sz="2200">
                <a:solidFill>
                  <a:srgbClr val="94A3B8"/>
                </a:solidFill>
              </a:defRPr>
            </a:pPr>
            <a:r>
              <a:t>静奢沉静与浮光掠影 (Silent Radiance)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4389120"/>
            <a:ext cx="411480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475488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GENERATED BY: 魔搭社区 ChatPPT-MCP 演示文稿生成智能体  |  AURA FASHION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73152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01. CONCEPT &amp; STORY / 灵感叙事与客群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灵感故事：静奢沉静与浮光掠影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" y="1828800"/>
            <a:ext cx="6400800" cy="4206240"/>
          </a:xfrm>
          <a:prstGeom prst="roundRect">
            <a:avLst/>
          </a:prstGeom>
          <a:solidFill>
            <a:srgbClr val="16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spcAft>
                <a:spcPts val="1400"/>
              </a:spcAft>
              <a:defRPr sz="1400">
                <a:solidFill>
                  <a:srgbClr val="E2E8F0"/>
                </a:solidFill>
              </a:defRPr>
            </a:pPr>
            <a:r>
              <a:t>本季以‘静奢沉静与浮光掠影’为灵感核心，探索在喧嚣世界中寻找内心宁静的女性形象。通过光影交错的视觉语言，展现低调奢华中的非凡气质。</a:t>
            </a:r>
          </a:p>
          <a:p>
            <a:pPr>
              <a:spcAft>
                <a:spcPts val="1400"/>
              </a:spcAft>
              <a:defRPr sz="1400">
                <a:solidFill>
                  <a:srgbClr val="E2E8F0"/>
                </a:solidFill>
              </a:defRPr>
            </a:pPr>
            <a:r>
              <a:t>设计灵感源自现代都市女性在多重身份间的平衡——她们既是艺术的欣赏者，也是时尚的引领者，更是在生活与梦想之间游走的先锋。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0" y="1828800"/>
            <a:ext cx="3291840" cy="4206240"/>
          </a:xfrm>
          <a:prstGeom prst="roundRect">
            <a:avLst/>
          </a:prstGeom>
          <a:solidFill>
            <a:srgbClr val="16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✦ 目标客群画像 (Audience)</a:t>
            </a:r>
          </a:p>
          <a:p>
            <a:pPr>
              <a:spcAft>
                <a:spcPts val="1800"/>
              </a:spcAft>
              <a:defRPr sz="1300">
                <a:solidFill>
                  <a:srgbClr val="E2E8F0"/>
                </a:solidFill>
              </a:defRPr>
            </a:pPr>
            <a:r>
              <a:t>都市新贵、艺术从业者与时尚先锋女性</a:t>
            </a:r>
          </a:p>
          <a:p>
            <a:pPr>
              <a:defRPr sz="1400" b="1">
                <a:solidFill>
                  <a:srgbClr val="D4AF37"/>
                </a:solidFill>
              </a:defRPr>
            </a:pPr>
            <a:r>
              <a:t>✦ 适用生活场景 (Occasions)</a:t>
            </a:r>
          </a:p>
          <a:p>
            <a:pPr>
              <a:spcAft>
                <a:spcPts val="1800"/>
              </a:spcAft>
              <a:defRPr sz="1300">
                <a:solidFill>
                  <a:srgbClr val="E2E8F0"/>
                </a:solidFill>
              </a:defRPr>
            </a:pPr>
            <a:r>
              <a:t>都会日常、沙龙社交、晚宴酒会与度假漫游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✦ 美学关键词: 静奢 / 光影 / 优雅 / 艺术 / 先锋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73152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02. MOODBOARD / 灵感情绪板与视觉意向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灵感情绪板：静奢沉静与浮光掠影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视觉总览：融合极简主义与诗意美学，强调材质质感与光影层次，营造一种内敛而富有张力的视觉氛围。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2651760"/>
            <a:ext cx="3108960" cy="3291840"/>
          </a:xfrm>
          <a:prstGeom prst="roundRect">
            <a:avLst/>
          </a:prstGeom>
          <a:solidFill>
            <a:srgbClr val="16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0" lIns="274320"/>
          <a:lstStyle/>
          <a:p>
            <a:pPr algn="ctr">
              <a:defRPr sz="1200" b="1">
                <a:solidFill>
                  <a:srgbClr val="38BDF8"/>
                </a:solidFill>
              </a:defRPr>
            </a:pPr>
            <a:r>
              <a:t>VISUAL REF 01</a:t>
            </a:r>
          </a:p>
          <a:p>
            <a:pPr>
              <a:spcBef>
                <a:spcPts val="1000"/>
              </a:spcBef>
              <a:defRPr sz="1600" b="1">
                <a:solidFill>
                  <a:srgbClr val="F8FAFC"/>
                </a:solidFill>
              </a:defRPr>
            </a:pPr>
            <a:r>
              <a:t>极简剪裁</a:t>
            </a:r>
          </a:p>
          <a:p>
            <a:pPr>
              <a:spcBef>
                <a:spcPts val="1400"/>
              </a:spcBef>
              <a:defRPr sz="1200">
                <a:solidFill>
                  <a:srgbClr val="E2E8F0"/>
                </a:solidFill>
              </a:defRPr>
            </a:pPr>
            <a:r>
              <a:t>高奢时装秀场与静物摄影参考意向，强调剪裁与材质共生。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2651760"/>
            <a:ext cx="3108960" cy="3291840"/>
          </a:xfrm>
          <a:prstGeom prst="roundRect">
            <a:avLst/>
          </a:prstGeom>
          <a:solidFill>
            <a:srgbClr val="16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0" lIns="274320"/>
          <a:lstStyle/>
          <a:p>
            <a:pPr algn="ctr">
              <a:defRPr sz="1200" b="1">
                <a:solidFill>
                  <a:srgbClr val="38BDF8"/>
                </a:solidFill>
              </a:defRPr>
            </a:pPr>
            <a:r>
              <a:t>VISUAL REF 02</a:t>
            </a:r>
          </a:p>
          <a:p>
            <a:pPr>
              <a:spcBef>
                <a:spcPts val="1000"/>
              </a:spcBef>
              <a:defRPr sz="1600" b="1">
                <a:solidFill>
                  <a:srgbClr val="F8FAFC"/>
                </a:solidFill>
              </a:defRPr>
            </a:pPr>
            <a:r>
              <a:t>柔光面料</a:t>
            </a:r>
          </a:p>
          <a:p>
            <a:pPr>
              <a:spcBef>
                <a:spcPts val="1400"/>
              </a:spcBef>
              <a:defRPr sz="1200">
                <a:solidFill>
                  <a:srgbClr val="E2E8F0"/>
                </a:solidFill>
              </a:defRPr>
            </a:pPr>
            <a:r>
              <a:t>高奢时装秀场与静物摄影参考意向，强调剪裁与材质共生。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19" y="2651760"/>
            <a:ext cx="3108960" cy="3291840"/>
          </a:xfrm>
          <a:prstGeom prst="roundRect">
            <a:avLst/>
          </a:prstGeom>
          <a:solidFill>
            <a:srgbClr val="16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0" lIns="274320"/>
          <a:lstStyle/>
          <a:p>
            <a:pPr algn="ctr">
              <a:defRPr sz="1200" b="1">
                <a:solidFill>
                  <a:srgbClr val="38BDF8"/>
                </a:solidFill>
              </a:defRPr>
            </a:pPr>
            <a:r>
              <a:t>VISUAL REF 03</a:t>
            </a:r>
          </a:p>
          <a:p>
            <a:pPr>
              <a:spcBef>
                <a:spcPts val="1000"/>
              </a:spcBef>
              <a:defRPr sz="1600" b="1">
                <a:solidFill>
                  <a:srgbClr val="F8FAFC"/>
                </a:solidFill>
              </a:defRPr>
            </a:pPr>
            <a:r>
              <a:t>金属细节</a:t>
            </a:r>
          </a:p>
          <a:p>
            <a:pPr>
              <a:spcBef>
                <a:spcPts val="1400"/>
              </a:spcBef>
              <a:defRPr sz="1200">
                <a:solidFill>
                  <a:srgbClr val="E2E8F0"/>
                </a:solidFill>
              </a:defRPr>
            </a:pPr>
            <a:r>
              <a:t>高奢时装秀场与静物摄影参考意向，强调剪裁与材质共生。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73152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03. PANTONE TCX COLORWAY / 潘通色彩谱系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潘通色彩谱系：静奢沉静与浮光掠影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7373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94A3B8"/>
                </a:solidFill>
              </a:defRPr>
            </a:pPr>
            <a:r>
              <a:t>本季色彩以低饱和度色调为主，搭配微妙的金属光泽，体现静奢风格的核心理念。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2468880"/>
            <a:ext cx="1828800" cy="2194560"/>
          </a:xfrm>
          <a:prstGeom prst="roundRect">
            <a:avLst/>
          </a:prstGeom>
          <a:solidFill>
            <a:srgbClr val="8A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7280" y="4709160"/>
            <a:ext cx="1828800" cy="1463040"/>
          </a:xfrm>
          <a:prstGeom prst="roundRect">
            <a:avLst/>
          </a:prstGeom>
          <a:solidFill>
            <a:srgbClr val="16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37160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17-3915 TCX</a:t>
            </a:r>
          </a:p>
          <a:p>
            <a:pPr>
              <a:defRPr sz="1200">
                <a:solidFill>
                  <a:srgbClr val="38BDF8"/>
                </a:solidFill>
              </a:defRPr>
            </a:pPr>
            <a:r>
              <a:t>静谧灰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主色 | #8A8A8A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2468880"/>
            <a:ext cx="1828800" cy="2194560"/>
          </a:xfrm>
          <a:prstGeom prst="roundRect">
            <a:avLst/>
          </a:prstGeom>
          <a:solidFill>
            <a:srgbClr val="D4C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00400" y="4709160"/>
            <a:ext cx="1828800" cy="1463040"/>
          </a:xfrm>
          <a:prstGeom prst="roundRect">
            <a:avLst/>
          </a:prstGeom>
          <a:solidFill>
            <a:srgbClr val="16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37160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15-0715 TCX</a:t>
            </a:r>
          </a:p>
          <a:p>
            <a:pPr>
              <a:defRPr sz="1200">
                <a:solidFill>
                  <a:srgbClr val="38BDF8"/>
                </a:solidFill>
              </a:defRPr>
            </a:pPr>
            <a:r>
              <a:t>晨曦金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辅色 | #D4C39B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0" y="2468880"/>
            <a:ext cx="1828800" cy="2194560"/>
          </a:xfrm>
          <a:prstGeom prst="roundRect">
            <a:avLst/>
          </a:prstGeom>
          <a:solidFill>
            <a:srgbClr val="2E3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303520" y="4709160"/>
            <a:ext cx="1828800" cy="1463040"/>
          </a:xfrm>
          <a:prstGeom prst="roundRect">
            <a:avLst/>
          </a:prstGeom>
          <a:solidFill>
            <a:srgbClr val="16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37160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19-4050 TCX</a:t>
            </a:r>
          </a:p>
          <a:p>
            <a:pPr>
              <a:defRPr sz="1200">
                <a:solidFill>
                  <a:srgbClr val="38BDF8"/>
                </a:solidFill>
              </a:defRPr>
            </a:pPr>
            <a:r>
              <a:t>深海蓝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点缀色 | #2E3A59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0" y="2468880"/>
            <a:ext cx="1828800" cy="2194560"/>
          </a:xfrm>
          <a:prstGeom prst="round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406640" y="4709160"/>
            <a:ext cx="1828800" cy="1463040"/>
          </a:xfrm>
          <a:prstGeom prst="roundRect">
            <a:avLst/>
          </a:prstGeom>
          <a:solidFill>
            <a:srgbClr val="16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37160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14-4203 TCX</a:t>
            </a:r>
          </a:p>
          <a:p>
            <a:pPr>
              <a:defRPr sz="1200">
                <a:solidFill>
                  <a:srgbClr val="38BDF8"/>
                </a:solidFill>
              </a:defRPr>
            </a:pPr>
            <a:r>
              <a:t>雾霭银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辅色 | #C8C8C8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73152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04. FABRIC &amp; SILHOUETTE / 面料材质与剪裁廓形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面料与剪裁：静奢沉静与浮光掠影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7373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94A3B8"/>
                </a:solidFill>
              </a:defRPr>
            </a:pPr>
            <a:r>
              <a:t>廓形要点：本季采用流畅线条与柔和廓形，结合高质感面料，打造既舒适又具有视觉张力的造型。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2468880"/>
            <a:ext cx="9966960" cy="1051560"/>
          </a:xfrm>
          <a:prstGeom prst="roundRect">
            <a:avLst/>
          </a:prstGeom>
          <a:solidFill>
            <a:srgbClr val="16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274320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01  丝绸混纺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【触感与质地】轻盈柔软，带有微光质感   |   【应用款式】连衣裙与外套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3703320"/>
            <a:ext cx="9966960" cy="1051560"/>
          </a:xfrm>
          <a:prstGeom prst="roundRect">
            <a:avLst/>
          </a:prstGeom>
          <a:solidFill>
            <a:srgbClr val="16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274320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02  羊毛混纺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【触感与质地】温暖且富有垂坠感   |   【应用款式】大衣与长裙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4937760"/>
            <a:ext cx="9966960" cy="1051560"/>
          </a:xfrm>
          <a:prstGeom prst="roundRect">
            <a:avLst/>
          </a:prstGeom>
          <a:solidFill>
            <a:srgbClr val="16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274320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03  金属丝织物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【触感与质地】细腻光泽，提升整体精致度   |   【应用款式】装饰细节与配饰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73152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05. COLLECTION LINEUP / 系列商业规划与波段节奏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系列商业规划与波段节奏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" y="1920240"/>
            <a:ext cx="3108960" cy="4114800"/>
          </a:xfrm>
          <a:prstGeom prst="roundRect">
            <a:avLst/>
          </a:prstGeom>
          <a:solidFill>
            <a:srgbClr val="16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 rIns="274320"/>
          <a:lstStyle/>
          <a:p>
            <a:pPr algn="ctr">
              <a:defRPr sz="1500" b="1">
                <a:solidFill>
                  <a:srgbClr val="D4AF37"/>
                </a:solidFill>
              </a:defRPr>
            </a:pPr>
            <a:r>
              <a:t>波段一 (早春先导)</a:t>
            </a:r>
          </a:p>
          <a:p>
            <a:pPr>
              <a:spcBef>
                <a:spcPts val="1200"/>
              </a:spcBef>
              <a:defRPr sz="1300" b="1">
                <a:solidFill>
                  <a:srgbClr val="38BDF8"/>
                </a:solidFill>
              </a:defRPr>
            </a:pPr>
            <a:r>
              <a:t>✦ 核心主推款式:</a:t>
            </a:r>
          </a:p>
          <a:p>
            <a:pPr>
              <a:spcBef>
                <a:spcPts val="400"/>
              </a:spcBef>
              <a:defRPr sz="1300">
                <a:solidFill>
                  <a:srgbClr val="E2E8F0"/>
                </a:solidFill>
              </a:defRPr>
            </a:pPr>
            <a:r>
              <a:t>轻盈连衣裙、简约西装套装</a:t>
            </a:r>
          </a:p>
          <a:p>
            <a:pPr>
              <a:spcBef>
                <a:spcPts val="1600"/>
              </a:spcBef>
              <a:defRPr sz="1300" b="1">
                <a:solidFill>
                  <a:srgbClr val="38BDF8"/>
                </a:solidFill>
              </a:defRPr>
            </a:pPr>
            <a:r>
              <a:t>✦ 企划策略聚焦:</a:t>
            </a:r>
          </a:p>
          <a:p>
            <a:pPr>
              <a:spcBef>
                <a:spcPts val="400"/>
              </a:spcBef>
              <a:defRPr sz="1250">
                <a:solidFill>
                  <a:srgbClr val="94A3B8"/>
                </a:solidFill>
              </a:defRPr>
            </a:pPr>
            <a:r>
              <a:t>建立品牌认知与市场预热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0" y="1920240"/>
            <a:ext cx="3108960" cy="4114800"/>
          </a:xfrm>
          <a:prstGeom prst="roundRect">
            <a:avLst/>
          </a:prstGeom>
          <a:solidFill>
            <a:srgbClr val="16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 rIns="274320"/>
          <a:lstStyle/>
          <a:p>
            <a:pPr algn="ctr">
              <a:defRPr sz="1500" b="1">
                <a:solidFill>
                  <a:srgbClr val="D4AF37"/>
                </a:solidFill>
              </a:defRPr>
            </a:pPr>
            <a:r>
              <a:t>波段二 (秀场主推)</a:t>
            </a:r>
          </a:p>
          <a:p>
            <a:pPr>
              <a:spcBef>
                <a:spcPts val="1200"/>
              </a:spcBef>
              <a:defRPr sz="1300" b="1">
                <a:solidFill>
                  <a:srgbClr val="38BDF8"/>
                </a:solidFill>
              </a:defRPr>
            </a:pPr>
            <a:r>
              <a:t>✦ 核心主推款式:</a:t>
            </a:r>
          </a:p>
          <a:p>
            <a:pPr>
              <a:spcBef>
                <a:spcPts val="400"/>
              </a:spcBef>
              <a:defRPr sz="1300">
                <a:solidFill>
                  <a:srgbClr val="E2E8F0"/>
                </a:solidFill>
              </a:defRPr>
            </a:pPr>
            <a:r>
              <a:t>金属光泽礼服、定制大衣</a:t>
            </a:r>
          </a:p>
          <a:p>
            <a:pPr>
              <a:spcBef>
                <a:spcPts val="1600"/>
              </a:spcBef>
              <a:defRPr sz="1300" b="1">
                <a:solidFill>
                  <a:srgbClr val="38BDF8"/>
                </a:solidFill>
              </a:defRPr>
            </a:pPr>
            <a:r>
              <a:t>✦ 企划策略聚焦:</a:t>
            </a:r>
          </a:p>
          <a:p>
            <a:pPr>
              <a:spcBef>
                <a:spcPts val="400"/>
              </a:spcBef>
              <a:defRPr sz="1250">
                <a:solidFill>
                  <a:srgbClr val="94A3B8"/>
                </a:solidFill>
              </a:defRPr>
            </a:pPr>
            <a:r>
              <a:t>强化品牌形象与高端定位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19" y="1920240"/>
            <a:ext cx="3108960" cy="4114800"/>
          </a:xfrm>
          <a:prstGeom prst="roundRect">
            <a:avLst/>
          </a:prstGeom>
          <a:solidFill>
            <a:srgbClr val="16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 rIns="274320"/>
          <a:lstStyle/>
          <a:p>
            <a:pPr algn="ctr">
              <a:defRPr sz="1500" b="1">
                <a:solidFill>
                  <a:srgbClr val="D4AF37"/>
                </a:solidFill>
              </a:defRPr>
            </a:pPr>
            <a:r>
              <a:t>波段三 (盛夏胶囊)</a:t>
            </a:r>
          </a:p>
          <a:p>
            <a:pPr>
              <a:spcBef>
                <a:spcPts val="1200"/>
              </a:spcBef>
              <a:defRPr sz="1300" b="1">
                <a:solidFill>
                  <a:srgbClr val="38BDF8"/>
                </a:solidFill>
              </a:defRPr>
            </a:pPr>
            <a:r>
              <a:t>✦ 核心主推款式:</a:t>
            </a:r>
          </a:p>
          <a:p>
            <a:pPr>
              <a:spcBef>
                <a:spcPts val="400"/>
              </a:spcBef>
              <a:defRPr sz="1300">
                <a:solidFill>
                  <a:srgbClr val="E2E8F0"/>
                </a:solidFill>
              </a:defRPr>
            </a:pPr>
            <a:r>
              <a:t>短款套装、休闲长裙</a:t>
            </a:r>
          </a:p>
          <a:p>
            <a:pPr>
              <a:spcBef>
                <a:spcPts val="1600"/>
              </a:spcBef>
              <a:defRPr sz="1300" b="1">
                <a:solidFill>
                  <a:srgbClr val="38BDF8"/>
                </a:solidFill>
              </a:defRPr>
            </a:pPr>
            <a:r>
              <a:t>✦ 企划策略聚焦:</a:t>
            </a:r>
          </a:p>
          <a:p>
            <a:pPr>
              <a:spcBef>
                <a:spcPts val="400"/>
              </a:spcBef>
              <a:defRPr sz="1250">
                <a:solidFill>
                  <a:srgbClr val="94A3B8"/>
                </a:solidFill>
              </a:defRPr>
            </a:pPr>
            <a:r>
              <a:t>拓展适用场景与消费群体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377440"/>
            <a:ext cx="9418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600" b="1">
                <a:solidFill>
                  <a:srgbClr val="F8FAFC"/>
                </a:solidFill>
              </a:defRPr>
            </a:pPr>
            <a:r>
              <a:t>THANK YOU</a:t>
            </a:r>
          </a:p>
          <a:p>
            <a:pPr algn="ctr">
              <a:spcBef>
                <a:spcPts val="1200"/>
              </a:spcBef>
              <a:defRPr sz="1800">
                <a:solidFill>
                  <a:srgbClr val="38BDF8"/>
                </a:solidFill>
              </a:defRPr>
            </a:pPr>
            <a:r>
              <a:t>感谢您关注 2026年春夏 LOUIS VUITTON · 静奢沉静与浮光掠影</a:t>
            </a:r>
          </a:p>
          <a:p>
            <a:pPr algn="ctr">
              <a:spcBef>
                <a:spcPts val="2000"/>
              </a:spcBef>
              <a:defRPr sz="1100">
                <a:solidFill>
                  <a:srgbClr val="94A3B8"/>
                </a:solidFill>
              </a:defRPr>
            </a:pPr>
            <a:r>
              <a:t>AURA Fashion AI × ModelScope ChatPPT-MCP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